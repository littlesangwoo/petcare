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embeddedFontLst>
    <p:embeddedFont>
      <p:font typeface="Mukta"/>
      <p:regular r:id="rId201314"/>
    </p:embeddedFont>
    <p:embeddedFont>
      <p:font typeface="Mukta Light"/>
      <p:regular r:id="rId201315"/>
    </p:embeddedFont>
    <p:embeddedFont>
      <p:font typeface="Mukta Bold"/>
      <p:regular r:id="rId201316"/>
    </p:embeddedFont>
    <p:embeddedFont>
      <p:font typeface="Prompt Medium"/>
      <p:regular r:id="rId2013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jpeg"/><Relationship Id="rId2" Type="http://schemas.openxmlformats.org/officeDocument/2006/relationships/image" Target="../media/image-1002-2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23">
              <a:alpha val="95000"/>
            </a:srgbClr>
          </a:solidFill>
          <a:ln/>
        </p:spPr>
      </p:sp>
      <p:pic>
        <p:nvPicPr>
          <p:cNvPr id="4" name="Image 1" descr="preencoded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image" Target="../media/image-2-4.png"/><Relationship Id="rId5" Type="http://schemas.openxmlformats.org/officeDocument/2006/relationships/image" Target="../media/image-2-5.svg"/><Relationship Id="rId6" Type="http://schemas.openxmlformats.org/officeDocument/2006/relationships/image" Target="../media/image-2-4.png"/><Relationship Id="rId7" Type="http://schemas.openxmlformats.org/officeDocument/2006/relationships/image" Target="../media/image-2-5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image" Target="../media/image-7-4.png"/><Relationship Id="rId5" Type="http://schemas.openxmlformats.org/officeDocument/2006/relationships/image" Target="../media/image-7-5.svg"/><Relationship Id="rId6" Type="http://schemas.openxmlformats.org/officeDocument/2006/relationships/image" Target="../media/image-7-6.png"/><Relationship Id="rId7" Type="http://schemas.openxmlformats.org/officeDocument/2006/relationships/image" Target="../media/image-7-7.svg"/><Relationship Id="rId8" Type="http://schemas.openxmlformats.org/officeDocument/2006/relationships/image" Target="../media/image-7-8.png"/><Relationship Id="rId9" Type="http://schemas.openxmlformats.org/officeDocument/2006/relationships/image" Target="../media/image-7-9.svg"/><Relationship Id="rId10" Type="http://schemas.openxmlformats.org/officeDocument/2006/relationships/image" Target="../media/image-7-2.png"/><Relationship Id="rId11" Type="http://schemas.openxmlformats.org/officeDocument/2006/relationships/image" Target="../media/image-7-3.svg"/><Relationship Id="rId12" Type="http://schemas.openxmlformats.org/officeDocument/2006/relationships/image" Target="../media/image-7-12.png"/><Relationship Id="rId13" Type="http://schemas.openxmlformats.org/officeDocument/2006/relationships/image" Target="../media/image-7-13.svg"/><Relationship Id="rId14" Type="http://schemas.openxmlformats.org/officeDocument/2006/relationships/image" Target="../media/image-7-14.png"/><Relationship Id="rId15" Type="http://schemas.openxmlformats.org/officeDocument/2006/relationships/image" Target="../media/image-7-15.svg"/><Relationship Id="rId16" Type="http://schemas.openxmlformats.org/officeDocument/2006/relationships/image" Target="../media/image-7-16.png"/><Relationship Id="rId17" Type="http://schemas.openxmlformats.org/officeDocument/2006/relationships/image" Target="../media/image-7-17.sv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542C4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2597" y="518021"/>
            <a:ext cx="4366210" cy="582185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20012" y="2538611"/>
            <a:ext cx="61797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Знакомство с Docker: Упакуй, отправь, запусти</a:t>
            </a:r>
            <a:endParaRPr lang="en-US" sz="3550" dirty="0"/>
          </a:p>
        </p:txBody>
      </p:sp>
      <p:sp>
        <p:nvSpPr>
          <p:cNvPr id="5" name="Text 2"/>
          <p:cNvSpPr/>
          <p:nvPr/>
        </p:nvSpPr>
        <p:spPr>
          <a:xfrm>
            <a:off x="720012" y="3990181"/>
            <a:ext cx="6789369" cy="32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Основы контейнеризации для разработчиков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542C4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89" y="500955"/>
            <a:ext cx="4391808" cy="58559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91898" y="575568"/>
            <a:ext cx="6179784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Проблема: «На моем компьютере всё работает»</a:t>
            </a:r>
            <a:endParaRPr lang="en-US" sz="31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91898" y="1811933"/>
            <a:ext cx="6179784" cy="15651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598873" y="2017316"/>
            <a:ext cx="5667432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Классическая ситуация</a:t>
            </a:r>
            <a:endParaRPr lang="en-US" sz="1550" dirty="0"/>
          </a:p>
        </p:txBody>
      </p:sp>
      <p:sp>
        <p:nvSpPr>
          <p:cNvPr id="7" name="Text 3"/>
          <p:cNvSpPr/>
          <p:nvPr/>
        </p:nvSpPr>
        <p:spPr>
          <a:xfrm>
            <a:off x="5598873" y="2361803"/>
            <a:ext cx="5667432" cy="8099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Код работает локально, но падает на сервере из-за разных версий Python, Node.js и зависимостей — знакомо каждому разработчику.</a:t>
            </a:r>
            <a:endParaRPr lang="en-US" sz="14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1898" y="3534569"/>
            <a:ext cx="6179784" cy="129520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598873" y="3739952"/>
            <a:ext cx="5667432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Главные плюсы Docker</a:t>
            </a:r>
            <a:endParaRPr lang="en-US" sz="1550" dirty="0"/>
          </a:p>
        </p:txBody>
      </p:sp>
      <p:sp>
        <p:nvSpPr>
          <p:cNvPr id="10" name="Text 5"/>
          <p:cNvSpPr/>
          <p:nvPr/>
        </p:nvSpPr>
        <p:spPr>
          <a:xfrm>
            <a:off x="5598873" y="4084439"/>
            <a:ext cx="5667432" cy="539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Изоляция окружения, гарантированная повторяемость, быстрый старт и встроенная поддержка CI/CD.</a:t>
            </a:r>
            <a:endParaRPr lang="en-US" sz="14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91898" y="4987230"/>
            <a:ext cx="6179784" cy="129520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598873" y="5192613"/>
            <a:ext cx="5667432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Один образ — везде одинаково</a:t>
            </a:r>
            <a:endParaRPr lang="en-US" sz="1550" dirty="0"/>
          </a:p>
        </p:txBody>
      </p:sp>
      <p:sp>
        <p:nvSpPr>
          <p:cNvPr id="13" name="Text 7"/>
          <p:cNvSpPr/>
          <p:nvPr/>
        </p:nvSpPr>
        <p:spPr>
          <a:xfrm>
            <a:off x="5598873" y="5537101"/>
            <a:ext cx="5667432" cy="539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Ноутбук, сервер, облако — поведение приложения идентично в любой среде без дополнительной настройки.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565745"/>
            <a:ext cx="1075167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Виртуализация vs Контейнеризация</a:t>
            </a:r>
            <a:endParaRPr lang="en-US" sz="17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12" y="986433"/>
            <a:ext cx="5250426" cy="525055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27607" y="3078758"/>
            <a:ext cx="525042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Аналогия из жизни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27607" y="3273028"/>
            <a:ext cx="5250426" cy="539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spcAft>
                <a:spcPts val="350"/>
              </a:spcAft>
              <a:buNone/>
            </a:pPr>
            <a:r>
              <a:rPr lang="en-US" sz="800" b="1" dirty="0">
                <a:solidFill>
                  <a:srgbClr val="DAD8E9"/>
                </a:solidFill>
                <a:latin typeface="Mukta Bold" pitchFamily="34" charset="0"/>
                <a:ea typeface="Mukta Bold" pitchFamily="34" charset="-122"/>
                <a:cs typeface="Mukta Bold" pitchFamily="34" charset="-120"/>
              </a:rPr>
              <a:t>VM — это отдельный дом</a:t>
            </a:r>
            <a:pPr algn="l" indent="0" marL="0">
              <a:lnSpc>
                <a:spcPct val="100000"/>
              </a:lnSpc>
              <a:spcAft>
                <a:spcPts val="350"/>
              </a:spcAft>
              <a:buNone/>
            </a:pPr>
            <a:r>
              <a:rPr lang="en-US" sz="8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со своей электросетью, водопроводом и всей инфраструктурой. Дорого, долго строить, но полностью изолирован.</a:t>
            </a:r>
            <a:endParaRPr lang="en-US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DAD8E9"/>
                </a:solidFill>
                <a:latin typeface="Mukta Bold" pitchFamily="34" charset="0"/>
                <a:ea typeface="Mukta Bold" pitchFamily="34" charset="-122"/>
                <a:cs typeface="Mukta Bold" pitchFamily="34" charset="-120"/>
              </a:rPr>
              <a:t>Контейнер — это квартира в многоэтажке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с общей инфраструктурой дома. Быстро, компактно, эффективно — и при этом каждый жилец изолирован от соседей.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6227607" y="3870821"/>
            <a:ext cx="5250426" cy="267295"/>
          </a:xfrm>
          <a:prstGeom prst="roundRect">
            <a:avLst>
              <a:gd name="adj" fmla="val 16164"/>
            </a:avLst>
          </a:prstGeom>
          <a:solidFill>
            <a:srgbClr val="542C49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395" y="3947914"/>
            <a:ext cx="128584" cy="10279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61767" y="3942755"/>
            <a:ext cx="5423062" cy="123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Контейнеры запускаются за миллисекунды, а не минуты — это меняет подход к деплою.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699889"/>
            <a:ext cx="10751670" cy="562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Архитектура Docker: Как устроено под капотом</a:t>
            </a:r>
            <a:endParaRPr lang="en-US" sz="3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0012" y="1661120"/>
            <a:ext cx="405001" cy="40501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4145" y="1730673"/>
            <a:ext cx="4597087" cy="281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Docker Client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1374145" y="2131516"/>
            <a:ext cx="4597087" cy="681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CLI-инструмент для ввода команд: </a:t>
            </a:r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DAD8E9"/>
                </a:solidFill>
                <a:highlight>
                  <a:srgbClr val="18193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</a:t>
            </a:r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, </a:t>
            </a:r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DAD8E9"/>
                </a:solidFill>
                <a:highlight>
                  <a:srgbClr val="18193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и другие.</a:t>
            </a:r>
            <a:endParaRPr lang="en-US" sz="15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20364" y="1661120"/>
            <a:ext cx="405001" cy="40501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74497" y="1730673"/>
            <a:ext cx="4597186" cy="281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Docker Daemon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6874497" y="2131516"/>
            <a:ext cx="4597186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Фоновый сервис, управляющий контейнерами и образами на хосте.</a:t>
            </a:r>
            <a:endParaRPr lang="en-US" sz="15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0012" y="3211215"/>
            <a:ext cx="405001" cy="40501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74145" y="3280767"/>
            <a:ext cx="4597087" cy="281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REST API</a:t>
            </a:r>
            <a:endParaRPr lang="en-US" sz="1750" dirty="0"/>
          </a:p>
        </p:txBody>
      </p:sp>
      <p:sp>
        <p:nvSpPr>
          <p:cNvPr id="11" name="Text 6"/>
          <p:cNvSpPr/>
          <p:nvPr/>
        </p:nvSpPr>
        <p:spPr>
          <a:xfrm>
            <a:off x="1374145" y="3681611"/>
            <a:ext cx="4597087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Связующий слой между Client и Daemon — стандартный HTTP-интерфейс.</a:t>
            </a:r>
            <a:endParaRPr lang="en-US" sz="15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20364" y="3211215"/>
            <a:ext cx="405001" cy="405011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874497" y="3280767"/>
            <a:ext cx="4597186" cy="281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Registry</a:t>
            </a:r>
            <a:endParaRPr lang="en-US" sz="1750" dirty="0"/>
          </a:p>
        </p:txBody>
      </p:sp>
      <p:sp>
        <p:nvSpPr>
          <p:cNvPr id="14" name="Text 8"/>
          <p:cNvSpPr/>
          <p:nvPr/>
        </p:nvSpPr>
        <p:spPr>
          <a:xfrm>
            <a:off x="6874497" y="3681611"/>
            <a:ext cx="4597186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Хранилище образов: Docker Hub, GitLab Registry, приватные реестры.</a:t>
            </a:r>
            <a:endParaRPr lang="en-US" sz="15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20012" y="4723209"/>
            <a:ext cx="405001" cy="405011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374145" y="4792762"/>
            <a:ext cx="4597087" cy="281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Язык Go</a:t>
            </a:r>
            <a:endParaRPr lang="en-US" sz="1750" dirty="0"/>
          </a:p>
        </p:txBody>
      </p:sp>
      <p:sp>
        <p:nvSpPr>
          <p:cNvPr id="17" name="Text 10"/>
          <p:cNvSpPr/>
          <p:nvPr/>
        </p:nvSpPr>
        <p:spPr>
          <a:xfrm>
            <a:off x="1374145" y="5193605"/>
            <a:ext cx="4597087" cy="9644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Docker написан на Go для высокой производительности и кроссплатформенности.</a:t>
            </a:r>
            <a:endParaRPr lang="en-US" sz="15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220364" y="4723209"/>
            <a:ext cx="405001" cy="405011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6874497" y="4792762"/>
            <a:ext cx="4597186" cy="281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Docker Desktop</a:t>
            </a:r>
            <a:endParaRPr lang="en-US" sz="1750" dirty="0"/>
          </a:p>
        </p:txBody>
      </p:sp>
      <p:sp>
        <p:nvSpPr>
          <p:cNvPr id="20" name="Text 12"/>
          <p:cNvSpPr/>
          <p:nvPr/>
        </p:nvSpPr>
        <p:spPr>
          <a:xfrm>
            <a:off x="6874497" y="5193605"/>
            <a:ext cx="4597186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GUI-оболочка для Mac и Windows, упрощает работу с Docker для новичков.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596007"/>
            <a:ext cx="1075167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Основные понятия: Словарь Docker</a:t>
            </a:r>
            <a:endParaRPr lang="en-US" sz="35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12" y="2150467"/>
            <a:ext cx="3436852" cy="343693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665050" y="1707455"/>
            <a:ext cx="2133844" cy="2859980"/>
          </a:xfrm>
          <a:prstGeom prst="roundRect">
            <a:avLst>
              <a:gd name="adj" fmla="val 4049"/>
            </a:avLst>
          </a:prstGeom>
          <a:solidFill>
            <a:srgbClr val="542C49"/>
          </a:solidFill>
          <a:ln w="12700">
            <a:solidFill>
              <a:srgbClr val="6D456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883425" y="1925836"/>
            <a:ext cx="169709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Dockerfile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4883425" y="2417266"/>
            <a:ext cx="1697094" cy="13168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Текстовый файл с инструкциями — рецепт сборки образа.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004569" y="1707455"/>
            <a:ext cx="2133844" cy="2859980"/>
          </a:xfrm>
          <a:prstGeom prst="roundRect">
            <a:avLst>
              <a:gd name="adj" fmla="val 4049"/>
            </a:avLst>
          </a:prstGeom>
          <a:solidFill>
            <a:srgbClr val="542C49"/>
          </a:solidFill>
          <a:ln w="12700">
            <a:solidFill>
              <a:srgbClr val="6D456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222944" y="1925836"/>
            <a:ext cx="169709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Image (Образ)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7222944" y="2417266"/>
            <a:ext cx="1697094" cy="13168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Готовый неизменяемый шаблон — как </a:t>
            </a:r>
            <a:pPr algn="l" indent="0" marL="0">
              <a:lnSpc>
                <a:spcPct val="133000"/>
              </a:lnSpc>
              <a:buNone/>
            </a:pPr>
            <a:r>
              <a:rPr lang="en-US" sz="1600" b="1" dirty="0">
                <a:solidFill>
                  <a:srgbClr val="DAD8E9"/>
                </a:solidFill>
                <a:latin typeface="Mukta Bold" pitchFamily="34" charset="0"/>
                <a:ea typeface="Mukta Bold" pitchFamily="34" charset="-122"/>
                <a:cs typeface="Mukta Bold" pitchFamily="34" charset="-120"/>
              </a:rPr>
              <a:t>класс</a:t>
            </a:r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в ООП.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9344089" y="1707455"/>
            <a:ext cx="2133844" cy="2859980"/>
          </a:xfrm>
          <a:prstGeom prst="roundRect">
            <a:avLst>
              <a:gd name="adj" fmla="val 4049"/>
            </a:avLst>
          </a:prstGeom>
          <a:solidFill>
            <a:srgbClr val="542C49"/>
          </a:solidFill>
          <a:ln w="12700">
            <a:solidFill>
              <a:srgbClr val="6D456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562464" y="1925836"/>
            <a:ext cx="169709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Container (Контейнер)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9562464" y="2703016"/>
            <a:ext cx="1697094" cy="1646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Запущенный экземпляр образа — как </a:t>
            </a:r>
            <a:pPr algn="l" indent="0" marL="0">
              <a:lnSpc>
                <a:spcPct val="133000"/>
              </a:lnSpc>
              <a:buNone/>
            </a:pPr>
            <a:r>
              <a:rPr lang="en-US" sz="1600" b="1" dirty="0">
                <a:solidFill>
                  <a:srgbClr val="DAD8E9"/>
                </a:solidFill>
                <a:latin typeface="Mukta Bold" pitchFamily="34" charset="0"/>
                <a:ea typeface="Mukta Bold" pitchFamily="34" charset="-122"/>
                <a:cs typeface="Mukta Bold" pitchFamily="34" charset="-120"/>
              </a:rPr>
              <a:t>объект</a:t>
            </a:r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из класса.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665050" y="4773116"/>
            <a:ext cx="6812883" cy="1257399"/>
          </a:xfrm>
          <a:prstGeom prst="roundRect">
            <a:avLst>
              <a:gd name="adj" fmla="val 6872"/>
            </a:avLst>
          </a:prstGeom>
          <a:solidFill>
            <a:srgbClr val="542C49"/>
          </a:solidFill>
          <a:ln w="12700">
            <a:solidFill>
              <a:srgbClr val="6D456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83425" y="4991497"/>
            <a:ext cx="637613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Layer (Слой)</a:t>
            </a:r>
            <a:endParaRPr lang="en-US" sz="1750" dirty="0"/>
          </a:p>
        </p:txBody>
      </p:sp>
      <p:sp>
        <p:nvSpPr>
          <p:cNvPr id="15" name="Text 12"/>
          <p:cNvSpPr/>
          <p:nvPr/>
        </p:nvSpPr>
        <p:spPr>
          <a:xfrm>
            <a:off x="4883425" y="5482927"/>
            <a:ext cx="6376133" cy="32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Каждая инструкция Dockerfile создаёт слой; слои кешируются.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611386"/>
            <a:ext cx="10751670" cy="419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Образы и реестры: Как хранятся и передаются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153" y="1252934"/>
            <a:ext cx="10407290" cy="390534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301110" y="4227023"/>
            <a:ext cx="1569714" cy="268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docker pull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7322841" y="4227023"/>
            <a:ext cx="1569714" cy="268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docker push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5355323" y="4092627"/>
            <a:ext cx="1569713" cy="5375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Образ (слои в кеше)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3387805" y="4227023"/>
            <a:ext cx="1569714" cy="268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docker build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377282" y="4227023"/>
            <a:ext cx="1569714" cy="268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Dockerfile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720012" y="5394027"/>
            <a:ext cx="5191590" cy="2098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Кеширование слоёв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20012" y="5714802"/>
            <a:ext cx="5191590" cy="419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Если слой не изменился, Docker переиспользует его из кеша — сборка ускоряется в разы. Меняйте часто изменяемые слои в конце Dockerfile.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286442" y="5394027"/>
            <a:ext cx="5191590" cy="2098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Docker Hub и реестры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286442" y="5714802"/>
            <a:ext cx="5191590" cy="431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Публичный реестр с миллионами образов: </a:t>
            </a:r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DAD8E9"/>
                </a:solidFill>
                <a:highlight>
                  <a:srgbClr val="18193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python:3.11</a:t>
            </a:r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, </a:t>
            </a:r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DAD8E9"/>
                </a:solidFill>
                <a:highlight>
                  <a:srgbClr val="18193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nginx</a:t>
            </a:r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, </a:t>
            </a:r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DAD8E9"/>
                </a:solidFill>
                <a:highlight>
                  <a:srgbClr val="18193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</a:t>
            </a:r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и многие другие — готовы к использованию прямо сейчас.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542C4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91" y="483791"/>
            <a:ext cx="4417704" cy="58904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91898" y="589955"/>
            <a:ext cx="617978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Инфраструктура: Сеть, Данные, Логи, Безопасность</a:t>
            </a:r>
            <a:endParaRPr lang="en-US" sz="26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91898" y="1620738"/>
            <a:ext cx="6179784" cy="1075035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00649" y="2042517"/>
            <a:ext cx="231372" cy="231378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6043759" y="1794073"/>
            <a:ext cx="525459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Сеть (bridge)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6043759" y="2077740"/>
            <a:ext cx="5254593" cy="444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Контейнеры общаются через виртуальную сеть. Порты маппируются: </a:t>
            </a:r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DAD8E9"/>
                </a:solidFill>
                <a:highlight>
                  <a:srgbClr val="18193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8080:80</a:t>
            </a:r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= внешний:внутренний.</a:t>
            </a:r>
            <a:endParaRPr lang="en-US" sz="12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91898" y="2811463"/>
            <a:ext cx="6179784" cy="1062335"/>
          </a:xfrm>
          <a:prstGeom prst="rect">
            <a:avLst/>
          </a:prstGeom>
        </p:spPr>
      </p:pic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500649" y="3226891"/>
            <a:ext cx="231372" cy="231378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6043759" y="2984798"/>
            <a:ext cx="525459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Volumes (Тома)</a:t>
            </a:r>
            <a:endParaRPr lang="en-US" sz="1300" dirty="0"/>
          </a:p>
        </p:txBody>
      </p:sp>
      <p:sp>
        <p:nvSpPr>
          <p:cNvPr id="12" name="Text 5"/>
          <p:cNvSpPr/>
          <p:nvPr/>
        </p:nvSpPr>
        <p:spPr>
          <a:xfrm>
            <a:off x="6043759" y="3268464"/>
            <a:ext cx="5254593" cy="431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Папки на хосте, монтируемые в контейнер. Данные сохраняются даже после удаления контейнера.</a:t>
            </a:r>
            <a:endParaRPr lang="en-US" sz="120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91898" y="3989487"/>
            <a:ext cx="6179784" cy="1075035"/>
          </a:xfrm>
          <a:prstGeom prst="rect">
            <a:avLst/>
          </a:prstGeom>
        </p:spPr>
      </p:pic>
      <p:pic>
        <p:nvPicPr>
          <p:cNvPr id="14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500649" y="4411266"/>
            <a:ext cx="231372" cy="231378"/>
          </a:xfrm>
          <a:prstGeom prst="rect">
            <a:avLst/>
          </a:prstGeom>
        </p:spPr>
      </p:pic>
      <p:sp>
        <p:nvSpPr>
          <p:cNvPr id="15" name="Text 6"/>
          <p:cNvSpPr/>
          <p:nvPr/>
        </p:nvSpPr>
        <p:spPr>
          <a:xfrm>
            <a:off x="6043759" y="4162822"/>
            <a:ext cx="525459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Логи</a:t>
            </a:r>
            <a:endParaRPr lang="en-US" sz="1300" dirty="0"/>
          </a:p>
        </p:txBody>
      </p:sp>
      <p:sp>
        <p:nvSpPr>
          <p:cNvPr id="16" name="Text 7"/>
          <p:cNvSpPr/>
          <p:nvPr/>
        </p:nvSpPr>
        <p:spPr>
          <a:xfrm>
            <a:off x="6043759" y="4446488"/>
            <a:ext cx="5254593" cy="444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DAD8E9"/>
                </a:solidFill>
                <a:highlight>
                  <a:srgbClr val="18193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docker logs</a:t>
            </a:r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показывает вывод приложения в реальном времени. Логи хранятся на хосте.</a:t>
            </a:r>
            <a:endParaRPr lang="en-US" sz="1200" dirty="0"/>
          </a:p>
        </p:txBody>
      </p:sp>
      <p:pic>
        <p:nvPicPr>
          <p:cNvPr id="17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291898" y="5180211"/>
            <a:ext cx="6179784" cy="1087735"/>
          </a:xfrm>
          <a:prstGeom prst="rect">
            <a:avLst/>
          </a:prstGeom>
        </p:spPr>
      </p:pic>
      <p:pic>
        <p:nvPicPr>
          <p:cNvPr id="18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500649" y="5608340"/>
            <a:ext cx="231372" cy="231378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6043759" y="5353546"/>
            <a:ext cx="525459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Безопасность</a:t>
            </a:r>
            <a:endParaRPr lang="en-US" sz="1300" dirty="0"/>
          </a:p>
        </p:txBody>
      </p:sp>
      <p:sp>
        <p:nvSpPr>
          <p:cNvPr id="20" name="Text 9"/>
          <p:cNvSpPr/>
          <p:nvPr/>
        </p:nvSpPr>
        <p:spPr>
          <a:xfrm>
            <a:off x="6043759" y="5637213"/>
            <a:ext cx="5254593" cy="457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Контейнеры изолированы друг от друга. </a:t>
            </a:r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DAD8E9"/>
                </a:solidFill>
                <a:highlight>
                  <a:srgbClr val="18193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root</a:t>
            </a:r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внутри контейнера ≠ </a:t>
            </a:r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DAD8E9"/>
                </a:solidFill>
                <a:highlight>
                  <a:srgbClr val="18193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root</a:t>
            </a:r>
            <a:pPr algn="l" indent="0" marL="0">
              <a:lnSpc>
                <a:spcPct val="117000"/>
              </a:lnSpc>
              <a:buNone/>
            </a:pPr>
            <a:r>
              <a:rPr lang="en-US" sz="12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на хосте.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565745"/>
            <a:ext cx="10751670" cy="508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Жизненный цикл контейнера: Основные команды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0012" y="1401068"/>
          <a:ext cx="9143771" cy="914400"/>
        </p:xfrm>
        <a:graphic>
          <a:graphicData uri="http://schemas.openxmlformats.org/drawingml/2006/table">
            <a:tbl>
              <a:tblPr/>
              <a:tblGrid>
                <a:gridCol w="3583890"/>
                <a:gridCol w="3583890"/>
                <a:gridCol w="3583890"/>
              </a:tblGrid>
              <a:tr h="48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AD8E9"/>
                          </a:solidFill>
                          <a:latin typeface="Mukta" pitchFamily="34" charset="0"/>
                          <a:ea typeface="Mukta" pitchFamily="34" charset="-122"/>
                          <a:cs typeface="Mukta" pitchFamily="34" charset="-120"/>
                        </a:rPr>
                        <a:t>Команда</a:t>
                      </a:r>
                      <a:endParaRPr lang="en-US" sz="1400" dirty="0">
                        <a:latin typeface="Mukta" charset="0"/>
                        <a:ea typeface="Mukta" charset="0"/>
                        <a:cs typeface="Mukta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AD8E9"/>
                          </a:solidFill>
                          <a:latin typeface="Mukta" pitchFamily="34" charset="0"/>
                          <a:ea typeface="Mukta" pitchFamily="34" charset="-122"/>
                          <a:cs typeface="Mukta" pitchFamily="34" charset="-120"/>
                        </a:rPr>
                        <a:t>Действие</a:t>
                      </a:r>
                      <a:endParaRPr lang="en-US" sz="1400" dirty="0">
                        <a:latin typeface="Mukta" charset="0"/>
                        <a:ea typeface="Mukta" charset="0"/>
                        <a:cs typeface="Mukta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AD8E9"/>
                          </a:solidFill>
                          <a:latin typeface="Mukta" pitchFamily="34" charset="0"/>
                          <a:ea typeface="Mukta" pitchFamily="34" charset="-122"/>
                          <a:cs typeface="Mukta" pitchFamily="34" charset="-120"/>
                        </a:rPr>
                        <a:t>Пример</a:t>
                      </a:r>
                      <a:endParaRPr lang="en-US" sz="1400" dirty="0">
                        <a:latin typeface="Mukta" charset="0"/>
                        <a:ea typeface="Mukta" charset="0"/>
                        <a:cs typeface="Mukta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7689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docker run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Mukta" pitchFamily="34" charset="0"/>
                          <a:ea typeface="Mukta" pitchFamily="34" charset="-122"/>
                          <a:cs typeface="Mukta" pitchFamily="34" charset="-120"/>
                        </a:rPr>
                        <a:t>Создаёт и запускает контейнер из образа</a:t>
                      </a:r>
                      <a:endParaRPr lang="en-US" sz="1400" dirty="0">
                        <a:latin typeface="Mukta" charset="0"/>
                        <a:ea typeface="Mukta" charset="0"/>
                        <a:cs typeface="Mukta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docker run -d -p 8080:80 nginx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8070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docker ps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Mukta" pitchFamily="34" charset="0"/>
                          <a:ea typeface="Mukta" pitchFamily="34" charset="-122"/>
                          <a:cs typeface="Mukta" pitchFamily="34" charset="-120"/>
                        </a:rPr>
                        <a:t>Список запущенных контейнеров (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-a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Mukta" pitchFamily="34" charset="0"/>
                          <a:ea typeface="Mukta" pitchFamily="34" charset="-122"/>
                          <a:cs typeface="Mukta" pitchFamily="34" charset="-120"/>
                        </a:rPr>
                        <a:t> — все)</a:t>
                      </a:r>
                      <a:endParaRPr lang="en-US" sz="1400" dirty="0">
                        <a:latin typeface="Mukta" charset="0"/>
                        <a:ea typeface="Mukta" charset="0"/>
                        <a:cs typeface="Mukta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docker ps -a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7689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docker stop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Mukta" pitchFamily="34" charset="0"/>
                          <a:ea typeface="Mukta" pitchFamily="34" charset="-122"/>
                          <a:cs typeface="Mukta" pitchFamily="34" charset="-120"/>
                        </a:rPr>
                        <a:t>Останавливает контейнер (graceful shutdown)</a:t>
                      </a:r>
                      <a:endParaRPr lang="en-US" sz="1400" dirty="0">
                        <a:latin typeface="Mukta" charset="0"/>
                        <a:ea typeface="Mukta" charset="0"/>
                        <a:cs typeface="Mukta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docker stop container_id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1086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docker rm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Mukta" pitchFamily="34" charset="0"/>
                          <a:ea typeface="Mukta" pitchFamily="34" charset="-122"/>
                          <a:cs typeface="Mukta" pitchFamily="34" charset="-120"/>
                        </a:rPr>
                        <a:t>Удаляет контейнер</a:t>
                      </a:r>
                      <a:endParaRPr lang="en-US" sz="1400" dirty="0">
                        <a:latin typeface="Mukta" charset="0"/>
                        <a:ea typeface="Mukta" charset="0"/>
                        <a:cs typeface="Mukta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docker rm container_id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7689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docker logs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Mukta" pitchFamily="34" charset="0"/>
                          <a:ea typeface="Mukta" pitchFamily="34" charset="-122"/>
                          <a:cs typeface="Mukta" pitchFamily="34" charset="-120"/>
                        </a:rPr>
                        <a:t>Просмотр логов в реальном времени</a:t>
                      </a:r>
                      <a:endParaRPr lang="en-US" sz="1400" dirty="0">
                        <a:latin typeface="Mukta" charset="0"/>
                        <a:ea typeface="Mukta" charset="0"/>
                        <a:cs typeface="Mukta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docker logs -f container_id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7657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docker exec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Mukta" pitchFamily="34" charset="0"/>
                          <a:ea typeface="Mukta" pitchFamily="34" charset="-122"/>
                          <a:cs typeface="Mukta" pitchFamily="34" charset="-120"/>
                        </a:rPr>
                        <a:t>Выполнить команду внутри контейнера</a:t>
                      </a:r>
                      <a:endParaRPr lang="en-US" sz="1400" dirty="0">
                        <a:latin typeface="Mukta" charset="0"/>
                        <a:ea typeface="Mukta" charset="0"/>
                        <a:cs typeface="Mukta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AD8E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docker exec -it container_id bash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3233" marR="183233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20012" y="1878256"/>
            <a:ext cx="10751670" cy="1145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720012" y="2647182"/>
            <a:ext cx="10751670" cy="1145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720012" y="3454207"/>
            <a:ext cx="10751670" cy="1145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720012" y="4223133"/>
            <a:ext cx="10751670" cy="1145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720012" y="4733998"/>
            <a:ext cx="10751670" cy="1145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720012" y="5502924"/>
            <a:ext cx="10751670" cy="1145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569416"/>
            <a:ext cx="10751670" cy="482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0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Создание своего образа: Dockerfile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20012" y="1435993"/>
            <a:ext cx="5164108" cy="2847380"/>
          </a:xfrm>
          <a:prstGeom prst="roundRect">
            <a:avLst>
              <a:gd name="adj" fmla="val 2561"/>
            </a:avLst>
          </a:prstGeom>
          <a:solidFill>
            <a:srgbClr val="181930"/>
          </a:solidFill>
          <a:ln/>
        </p:spPr>
      </p:sp>
      <p:sp>
        <p:nvSpPr>
          <p:cNvPr id="4" name="Text 2"/>
          <p:cNvSpPr/>
          <p:nvPr/>
        </p:nvSpPr>
        <p:spPr>
          <a:xfrm>
            <a:off x="928267" y="1609527"/>
            <a:ext cx="4747598" cy="2500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endParaRPr lang="en-US" sz="13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5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["python", "app.py"]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20012" y="4448076"/>
            <a:ext cx="5773692" cy="2687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3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Сборка образа: </a:t>
            </a:r>
            <a:pPr algn="l" indent="0" marL="0">
              <a:lnSpc>
                <a:spcPct val="123000"/>
              </a:lnSpc>
              <a:buNone/>
            </a:pPr>
            <a:r>
              <a:rPr lang="en-US" sz="1350" dirty="0">
                <a:solidFill>
                  <a:srgbClr val="DAD8E9"/>
                </a:solidFill>
                <a:highlight>
                  <a:srgbClr val="18193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 -t my-app:1.0 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313925" y="1435993"/>
            <a:ext cx="390515" cy="390525"/>
          </a:xfrm>
          <a:prstGeom prst="roundRect">
            <a:avLst>
              <a:gd name="adj" fmla="val 18670"/>
            </a:avLst>
          </a:prstGeom>
          <a:solidFill>
            <a:srgbClr val="542C49"/>
          </a:solidFill>
          <a:ln w="6350">
            <a:solidFill>
              <a:srgbClr val="6D4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93496" y="1486595"/>
            <a:ext cx="231372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0883" y="1495623"/>
            <a:ext cx="4627149" cy="241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FROM python:3.11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0883" y="1883172"/>
            <a:ext cx="4627149" cy="2560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3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Базовый образ — наследуем готовую ОС с Python.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13925" y="2432149"/>
            <a:ext cx="390515" cy="390525"/>
          </a:xfrm>
          <a:prstGeom prst="roundRect">
            <a:avLst>
              <a:gd name="adj" fmla="val 18670"/>
            </a:avLst>
          </a:prstGeom>
          <a:solidFill>
            <a:srgbClr val="542C49"/>
          </a:solidFill>
          <a:ln w="6350">
            <a:solidFill>
              <a:srgbClr val="6D4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93496" y="2482751"/>
            <a:ext cx="231372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0883" y="2491780"/>
            <a:ext cx="4627149" cy="241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WORKDIR /app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0883" y="2879328"/>
            <a:ext cx="4627149" cy="2560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3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Рабочая директория внутри контейнера.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313925" y="3428305"/>
            <a:ext cx="390515" cy="390525"/>
          </a:xfrm>
          <a:prstGeom prst="roundRect">
            <a:avLst>
              <a:gd name="adj" fmla="val 18670"/>
            </a:avLst>
          </a:prstGeom>
          <a:solidFill>
            <a:srgbClr val="542C49"/>
          </a:solidFill>
          <a:ln w="6350">
            <a:solidFill>
              <a:srgbClr val="6D45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3496" y="3478907"/>
            <a:ext cx="231372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850883" y="3487936"/>
            <a:ext cx="4627149" cy="241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COPY . 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50883" y="3875484"/>
            <a:ext cx="4627149" cy="2560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3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Копируем код с хоста в контейнер.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13925" y="4424462"/>
            <a:ext cx="390515" cy="390525"/>
          </a:xfrm>
          <a:prstGeom prst="roundRect">
            <a:avLst>
              <a:gd name="adj" fmla="val 18670"/>
            </a:avLst>
          </a:prstGeom>
          <a:solidFill>
            <a:srgbClr val="542C49"/>
          </a:solidFill>
          <a:ln w="6350">
            <a:solidFill>
              <a:srgbClr val="6D456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93496" y="4475063"/>
            <a:ext cx="231372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850883" y="4484092"/>
            <a:ext cx="4627149" cy="241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RUN pip install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50883" y="4871641"/>
            <a:ext cx="4627149" cy="2560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3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Устанавливаем зависимости при сборке образа.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313925" y="5420618"/>
            <a:ext cx="390515" cy="390525"/>
          </a:xfrm>
          <a:prstGeom prst="roundRect">
            <a:avLst>
              <a:gd name="adj" fmla="val 18670"/>
            </a:avLst>
          </a:prstGeom>
          <a:solidFill>
            <a:srgbClr val="542C49"/>
          </a:solidFill>
          <a:ln w="6350">
            <a:solidFill>
              <a:srgbClr val="6D456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93496" y="5471220"/>
            <a:ext cx="231372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850883" y="5480248"/>
            <a:ext cx="4627149" cy="241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CMD ["python", "app.py"]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850883" y="5867797"/>
            <a:ext cx="4627149" cy="2560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3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Команда по умолчанию при запуске контейнера.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FDFE0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20012" y="615553"/>
            <a:ext cx="6179784" cy="419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Оркестрация: Docker Compose</a:t>
            </a:r>
            <a:endParaRPr lang="en-US" sz="2600" dirty="0"/>
          </a:p>
        </p:txBody>
      </p:sp>
      <p:sp>
        <p:nvSpPr>
          <p:cNvPr id="6" name="Text 2"/>
          <p:cNvSpPr/>
          <p:nvPr/>
        </p:nvSpPr>
        <p:spPr>
          <a:xfrm>
            <a:off x="720012" y="1201638"/>
            <a:ext cx="6179784" cy="419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Реальные приложения требуют нескольких контейнеров одновременно. Docker Compose описывает и запускает их все в одном YAML-файле.</a:t>
            </a:r>
            <a:endParaRPr lang="en-US" sz="1150" dirty="0"/>
          </a:p>
        </p:txBody>
      </p:sp>
      <p:sp>
        <p:nvSpPr>
          <p:cNvPr id="7" name="Shape 3"/>
          <p:cNvSpPr/>
          <p:nvPr/>
        </p:nvSpPr>
        <p:spPr>
          <a:xfrm>
            <a:off x="720012" y="1745754"/>
            <a:ext cx="6179784" cy="4496693"/>
          </a:xfrm>
          <a:prstGeom prst="roundRect">
            <a:avLst>
              <a:gd name="adj" fmla="val 1411"/>
            </a:avLst>
          </a:prstGeom>
          <a:solidFill>
            <a:srgbClr val="542C49"/>
          </a:solidFill>
          <a:ln w="6350">
            <a:solidFill>
              <a:srgbClr val="6D4562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26362" y="1752104"/>
            <a:ext cx="6167085" cy="1083866"/>
          </a:xfrm>
          <a:custGeom>
            <a:avLst/>
            <a:gdLst/>
            <a:ahLst/>
            <a:cxnLst/>
            <a:rect l="l" t="t" r="r" b="b"/>
            <a:pathLst>
              <a:path w="6167085" h="1083866">
                <a:moveTo>
                  <a:pt x="52880" y="0"/>
                </a:moveTo>
                <a:lnTo>
                  <a:pt x="6114205" y="0"/>
                </a:lnTo>
                <a:arcTo hR="52882" wR="52880" stAng="16200000" swAng="5400000"/>
                <a:lnTo>
                  <a:pt x="6167085" y="1083866"/>
                </a:lnTo>
                <a:lnTo>
                  <a:pt x="0" y="1083866"/>
                </a:lnTo>
                <a:lnTo>
                  <a:pt x="0" y="52882"/>
                </a:lnTo>
                <a:arcTo hR="52882" wR="52880" stAng="10800000" swAng="5400000"/>
                <a:close/>
              </a:path>
            </a:pathLst>
          </a:custGeom>
          <a:solidFill>
            <a:srgbClr val="542C49"/>
          </a:solidFill>
          <a:ln/>
        </p:spPr>
      </p:sp>
      <p:sp>
        <p:nvSpPr>
          <p:cNvPr id="9" name="Text 5"/>
          <p:cNvSpPr/>
          <p:nvPr/>
        </p:nvSpPr>
        <p:spPr>
          <a:xfrm>
            <a:off x="837286" y="1863030"/>
            <a:ext cx="5945237" cy="2098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Проблема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37286" y="2139355"/>
            <a:ext cx="5945237" cy="419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Приложение требует app + PostgreSQL + Redis — запускать вручную неудобно и ненадёжно.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726362" y="2835970"/>
            <a:ext cx="6167085" cy="1250255"/>
          </a:xfrm>
          <a:prstGeom prst="rect">
            <a:avLst/>
          </a:prstGeom>
          <a:solidFill>
            <a:srgbClr val="542C49"/>
          </a:solidFill>
          <a:ln/>
        </p:spPr>
      </p:sp>
      <p:sp>
        <p:nvSpPr>
          <p:cNvPr id="12" name="Shape 8"/>
          <p:cNvSpPr/>
          <p:nvPr/>
        </p:nvSpPr>
        <p:spPr>
          <a:xfrm>
            <a:off x="726362" y="2835970"/>
            <a:ext cx="6167085" cy="19050"/>
          </a:xfrm>
          <a:prstGeom prst="roundRect">
            <a:avLst>
              <a:gd name="adj" fmla="val 49999"/>
            </a:avLst>
          </a:prstGeom>
          <a:solidFill>
            <a:srgbClr val="6D4562"/>
          </a:solidFill>
          <a:ln/>
        </p:spPr>
      </p:sp>
      <p:sp>
        <p:nvSpPr>
          <p:cNvPr id="13" name="Shape 9"/>
          <p:cNvSpPr/>
          <p:nvPr/>
        </p:nvSpPr>
        <p:spPr>
          <a:xfrm>
            <a:off x="3620997" y="2656632"/>
            <a:ext cx="377716" cy="377726"/>
          </a:xfrm>
          <a:prstGeom prst="roundRect">
            <a:avLst>
              <a:gd name="adj" fmla="val 16800"/>
            </a:avLst>
          </a:prstGeom>
          <a:solidFill>
            <a:srgbClr val="0B0C23">
              <a:alpha val="95000"/>
            </a:srgbClr>
          </a:solidFill>
          <a:ln w="19050">
            <a:solidFill>
              <a:srgbClr val="6D456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37286" y="3113286"/>
            <a:ext cx="5945237" cy="2098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docker-compose.yml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37286" y="3389610"/>
            <a:ext cx="5945237" cy="419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YAML-файл с описанием сервисов, портов, томов и переменных окружения для всего стека.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26362" y="4086225"/>
            <a:ext cx="6167085" cy="1262955"/>
          </a:xfrm>
          <a:prstGeom prst="rect">
            <a:avLst/>
          </a:prstGeom>
          <a:solidFill>
            <a:srgbClr val="542C49"/>
          </a:solidFill>
          <a:ln/>
        </p:spPr>
      </p:sp>
      <p:sp>
        <p:nvSpPr>
          <p:cNvPr id="17" name="Shape 13"/>
          <p:cNvSpPr/>
          <p:nvPr/>
        </p:nvSpPr>
        <p:spPr>
          <a:xfrm>
            <a:off x="726362" y="4086225"/>
            <a:ext cx="6167085" cy="19050"/>
          </a:xfrm>
          <a:prstGeom prst="roundRect">
            <a:avLst>
              <a:gd name="adj" fmla="val 49999"/>
            </a:avLst>
          </a:prstGeom>
          <a:solidFill>
            <a:srgbClr val="6D4562"/>
          </a:solidFill>
          <a:ln/>
        </p:spPr>
      </p:sp>
      <p:sp>
        <p:nvSpPr>
          <p:cNvPr id="18" name="Shape 14"/>
          <p:cNvSpPr/>
          <p:nvPr/>
        </p:nvSpPr>
        <p:spPr>
          <a:xfrm>
            <a:off x="3620997" y="3906887"/>
            <a:ext cx="377716" cy="377726"/>
          </a:xfrm>
          <a:prstGeom prst="roundRect">
            <a:avLst>
              <a:gd name="adj" fmla="val 16800"/>
            </a:avLst>
          </a:prstGeom>
          <a:solidFill>
            <a:srgbClr val="0B0C23">
              <a:alpha val="95000"/>
            </a:srgbClr>
          </a:solidFill>
          <a:ln w="19050">
            <a:solidFill>
              <a:srgbClr val="6D4562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37286" y="4363541"/>
            <a:ext cx="5945237" cy="2098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Одна команда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837286" y="4639866"/>
            <a:ext cx="5945237" cy="431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DAD8E9"/>
                </a:solidFill>
                <a:highlight>
                  <a:srgbClr val="18193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 up</a:t>
            </a:r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запускает Flask, PostgreSQL и Nginx с правильной сетевой конфигурацией.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726362" y="5349180"/>
            <a:ext cx="6167085" cy="886916"/>
          </a:xfrm>
          <a:custGeom>
            <a:avLst/>
            <a:gdLst/>
            <a:ahLst/>
            <a:cxnLst/>
            <a:rect l="l" t="t" r="r" b="b"/>
            <a:pathLst>
              <a:path w="6167085" h="886916">
                <a:moveTo>
                  <a:pt x="0" y="0"/>
                </a:moveTo>
                <a:lnTo>
                  <a:pt x="6167085" y="0"/>
                </a:lnTo>
                <a:lnTo>
                  <a:pt x="6167085" y="834035"/>
                </a:lnTo>
                <a:arcTo hR="52882" wR="52880" stAng="0" swAng="5400000"/>
                <a:lnTo>
                  <a:pt x="52880" y="886916"/>
                </a:lnTo>
                <a:arcTo hR="52882" wR="52880" stAng="5400000" swAng="5400000"/>
                <a:lnTo>
                  <a:pt x="0" y="0"/>
                </a:lnTo>
                <a:close/>
              </a:path>
            </a:pathLst>
          </a:custGeom>
          <a:solidFill>
            <a:srgbClr val="542C49"/>
          </a:solidFill>
          <a:ln/>
        </p:spPr>
      </p:sp>
      <p:sp>
        <p:nvSpPr>
          <p:cNvPr id="22" name="Shape 18"/>
          <p:cNvSpPr/>
          <p:nvPr/>
        </p:nvSpPr>
        <p:spPr>
          <a:xfrm>
            <a:off x="726362" y="5349180"/>
            <a:ext cx="6167085" cy="19050"/>
          </a:xfrm>
          <a:prstGeom prst="roundRect">
            <a:avLst>
              <a:gd name="adj" fmla="val 49999"/>
            </a:avLst>
          </a:prstGeom>
          <a:solidFill>
            <a:srgbClr val="6D4562"/>
          </a:solidFill>
          <a:ln/>
        </p:spPr>
      </p:sp>
      <p:sp>
        <p:nvSpPr>
          <p:cNvPr id="23" name="Shape 19"/>
          <p:cNvSpPr/>
          <p:nvPr/>
        </p:nvSpPr>
        <p:spPr>
          <a:xfrm>
            <a:off x="3620997" y="5169843"/>
            <a:ext cx="377716" cy="377726"/>
          </a:xfrm>
          <a:prstGeom prst="roundRect">
            <a:avLst>
              <a:gd name="adj" fmla="val 16800"/>
            </a:avLst>
          </a:prstGeom>
          <a:solidFill>
            <a:srgbClr val="0B0C23">
              <a:alpha val="95000"/>
            </a:srgbClr>
          </a:solidFill>
          <a:ln w="19050">
            <a:solidFill>
              <a:srgbClr val="6D4562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37286" y="5626497"/>
            <a:ext cx="5945237" cy="2098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Управление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837286" y="5902821"/>
            <a:ext cx="5945237" cy="2223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DAD8E9"/>
                </a:solidFill>
                <a:highlight>
                  <a:srgbClr val="18193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 down</a:t>
            </a:r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останавливает и удаляет все сервисы одной командой.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2026-09-12T07:38:53Z</dcterms:created>
  <dcterms:modified xsi:type="dcterms:W3CDTF">2026-09-12T07:38:53Z</dcterms:modified>
</cp:coreProperties>
</file>