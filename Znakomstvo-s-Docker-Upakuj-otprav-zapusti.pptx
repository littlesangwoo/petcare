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ukta" panose="020B0604020202020204" charset="0"/>
      <p:regular r:id="rId13"/>
    </p:embeddedFon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Mukta Bold" panose="020B0604020202020204" charset="0"/>
      <p:regular r:id="rId22"/>
    </p:embeddedFont>
    <p:embeddedFont>
      <p:font typeface="Prompt Medium" panose="020B0604020202020204" charset="-34"/>
      <p:regular r:id="rId23"/>
    </p:embeddedFont>
    <p:embeddedFont>
      <p:font typeface="Mukta Light" panose="020B0604020202020204" charset="0"/>
      <p:regular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548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3603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-2-5.svg"/><Relationship Id="rId3" Type="http://schemas.openxmlformats.org/officeDocument/2006/relationships/image" Target="../media/image4.png"/><Relationship Id="rId7" Type="http://schemas.openxmlformats.org/officeDocument/2006/relationships/image" Target="../media/image-2-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-2-3.svg"/><Relationship Id="rId4" Type="http://schemas.openxmlformats.org/officeDocument/2006/relationships/image" Target="../media/image5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-4-6.svg"/><Relationship Id="rId13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12" Type="http://schemas.openxmlformats.org/officeDocument/2006/relationships/image" Target="../media/image-4-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4-4.svg"/><Relationship Id="rId11" Type="http://schemas.openxmlformats.org/officeDocument/2006/relationships/image" Target="../media/image14.png"/><Relationship Id="rId5" Type="http://schemas.openxmlformats.org/officeDocument/2006/relationships/image" Target="../media/image11.png"/><Relationship Id="rId10" Type="http://schemas.openxmlformats.org/officeDocument/2006/relationships/image" Target="../media/image-4-8.svg"/><Relationship Id="rId4" Type="http://schemas.openxmlformats.org/officeDocument/2006/relationships/image" Target="../media/image-4-2.svg"/><Relationship Id="rId9" Type="http://schemas.openxmlformats.org/officeDocument/2006/relationships/image" Target="../media/image13.png"/><Relationship Id="rId14" Type="http://schemas.openxmlformats.org/officeDocument/2006/relationships/image" Target="../media/image-4-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3.png"/><Relationship Id="rId18" Type="http://schemas.openxmlformats.org/officeDocument/2006/relationships/image" Target="../media/image-7-17.svg"/><Relationship Id="rId3" Type="http://schemas.openxmlformats.org/officeDocument/2006/relationships/image" Target="../media/image18.png"/><Relationship Id="rId7" Type="http://schemas.openxmlformats.org/officeDocument/2006/relationships/image" Target="../media/image-7-5.svg"/><Relationship Id="rId12" Type="http://schemas.openxmlformats.org/officeDocument/2006/relationships/image" Target="../media/image-7-3.sv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-7-1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-7-9.svg"/><Relationship Id="rId5" Type="http://schemas.openxmlformats.org/officeDocument/2006/relationships/image" Target="../media/image-7-3.svg"/><Relationship Id="rId15" Type="http://schemas.openxmlformats.org/officeDocument/2006/relationships/image" Target="../media/image24.png"/><Relationship Id="rId10" Type="http://schemas.openxmlformats.org/officeDocument/2006/relationships/image" Target="../media/image22.png"/><Relationship Id="rId4" Type="http://schemas.openxmlformats.org/officeDocument/2006/relationships/image" Target="../media/image19.png"/><Relationship Id="rId9" Type="http://schemas.openxmlformats.org/officeDocument/2006/relationships/image" Target="../media/image-7-7.svg"/><Relationship Id="rId14" Type="http://schemas.openxmlformats.org/officeDocument/2006/relationships/image" Target="../media/image-7-13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542C4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2597" y="518021"/>
            <a:ext cx="4366210" cy="58218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0012" y="2538611"/>
            <a:ext cx="61797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Знакомство с Docker: Упакуй, отправь, запусти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720012" y="3990181"/>
            <a:ext cx="6789369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Основы контейнеризации для разработчиков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542C4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89" y="500955"/>
            <a:ext cx="4391808" cy="58559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91898" y="575568"/>
            <a:ext cx="6179784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Проблема: «На моем компьютере всё работает»</a:t>
            </a:r>
            <a:endParaRPr lang="en-US" sz="3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291898" y="1811933"/>
            <a:ext cx="6179784" cy="156517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98873" y="2017316"/>
            <a:ext cx="5667432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Классическая ситуация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5598873" y="2361803"/>
            <a:ext cx="5667432" cy="809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Код работает локально, но падает на сервере из-за разных версий Python, Node.js и зависимостей — знакомо каждому разработчику.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5291898" y="3534569"/>
            <a:ext cx="6179784" cy="129520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598873" y="3739952"/>
            <a:ext cx="5667432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Главные плюсы Docker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5598873" y="4084439"/>
            <a:ext cx="5667432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Изоляция окружения, гарантированная повторяемость, быстрый старт и встроенная поддержка CI/CD.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5291898" y="4987230"/>
            <a:ext cx="6179784" cy="129520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598873" y="5192613"/>
            <a:ext cx="5667432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Один образ — везде одинаково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5598873" y="5537101"/>
            <a:ext cx="5667432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Ноутбук, сервер, облако — поведение приложения идентично в любой среде без дополнительной настройки.</a:t>
            </a:r>
            <a:endParaRPr lang="en-US" sz="1400" dirty="0"/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989" y="5361333"/>
            <a:ext cx="2187698" cy="13146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65745"/>
            <a:ext cx="1075167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Виртуализация vs Контейнеризация</a:t>
            </a:r>
            <a:endParaRPr lang="en-US" sz="1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12" y="986433"/>
            <a:ext cx="5250426" cy="52505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256" y="1690533"/>
            <a:ext cx="525042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Аналогия из жизни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248840" y="2618934"/>
            <a:ext cx="5250426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350"/>
              </a:spcAft>
              <a:buNone/>
            </a:pPr>
            <a:r>
              <a:rPr lang="en-US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VM — это отдельный дом</a:t>
            </a:r>
            <a:r>
              <a:rPr lang="en-US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со своей электросетью, водопроводом и всей инфраструктурой. Дорого, долго строить, но полностью изолирован.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Контейнер — это квартира в многоэтажке</a:t>
            </a:r>
            <a:r>
              <a:rPr lang="en-US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с общей инфраструктурой дома. Быстро, компактно, эффективно — и при этом каждый жилец изолирован от соседей.</a:t>
            </a: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6248840" y="5017977"/>
            <a:ext cx="5222842" cy="934090"/>
          </a:xfrm>
          <a:prstGeom prst="roundRect">
            <a:avLst>
              <a:gd name="adj" fmla="val 16164"/>
            </a:avLst>
          </a:prstGeom>
          <a:solidFill>
            <a:srgbClr val="542C49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1628" y="5433626"/>
            <a:ext cx="128584" cy="1027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83000" y="5089911"/>
            <a:ext cx="5423062" cy="794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Контейнеры запускаются за миллисекунды, а </a:t>
            </a:r>
            <a:r>
              <a:rPr lang="en-US" dirty="0" err="1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не</a:t>
            </a:r>
            <a:r>
              <a:rPr lang="en-US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</a:t>
            </a:r>
            <a:endParaRPr lang="en-US" dirty="0" smtClean="0">
              <a:solidFill>
                <a:srgbClr val="FFFFFF"/>
              </a:solidFill>
              <a:latin typeface="Mukta Light" pitchFamily="34" charset="0"/>
              <a:ea typeface="Mukta Light" pitchFamily="34" charset="-122"/>
              <a:cs typeface="Mukta Light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 err="1" smtClean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минуты</a:t>
            </a:r>
            <a:r>
              <a:rPr lang="en-US" dirty="0" smtClean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</a:t>
            </a:r>
            <a:r>
              <a:rPr lang="en-US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— это меняет подход к деплою.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699889"/>
            <a:ext cx="10751670" cy="562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Архитектура Docker: Как устроено под капотом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20012" y="1661120"/>
            <a:ext cx="405001" cy="4050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4145" y="1730673"/>
            <a:ext cx="4597087" cy="281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Docker Client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374145" y="2131516"/>
            <a:ext cx="4597087" cy="681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CLI-инструмент для ввода команд: </a:t>
            </a:r>
            <a:r>
              <a:rPr lang="en-US" sz="155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</a:t>
            </a: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, </a:t>
            </a:r>
            <a:r>
              <a:rPr lang="en-US" sz="155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</a:t>
            </a: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и другие.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220364" y="1661120"/>
            <a:ext cx="405001" cy="40501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74497" y="1730673"/>
            <a:ext cx="4597186" cy="281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Docker Daemon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6874497" y="2131516"/>
            <a:ext cx="4597186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Фоновый сервис, управляющий контейнерами и образами на хосте.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720012" y="3211215"/>
            <a:ext cx="405001" cy="40501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74145" y="3280767"/>
            <a:ext cx="4597087" cy="281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REST API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1374145" y="3681611"/>
            <a:ext cx="4597087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Связующий слой между Client и Daemon — стандартный HTTP-интерфейс.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6220364" y="3211215"/>
            <a:ext cx="405001" cy="40501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874497" y="3280767"/>
            <a:ext cx="4597186" cy="281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Registry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6874497" y="3681611"/>
            <a:ext cx="4597186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Хранилище образов: Docker Hub, GitLab Registry, приватные реестры.</a:t>
            </a:r>
            <a:endParaRPr lang="en-US" sz="15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720012" y="4723209"/>
            <a:ext cx="405001" cy="40501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374145" y="4792762"/>
            <a:ext cx="4597087" cy="281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Язык Go</a:t>
            </a:r>
            <a:endParaRPr lang="en-US" sz="1750" dirty="0"/>
          </a:p>
        </p:txBody>
      </p:sp>
      <p:sp>
        <p:nvSpPr>
          <p:cNvPr id="17" name="Text 10"/>
          <p:cNvSpPr/>
          <p:nvPr/>
        </p:nvSpPr>
        <p:spPr>
          <a:xfrm>
            <a:off x="1374145" y="5193605"/>
            <a:ext cx="4597087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Docker написан на Go для высокой производительности и кроссплатформенности.</a:t>
            </a:r>
            <a:endParaRPr lang="en-US" sz="15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6220364" y="4723209"/>
            <a:ext cx="405001" cy="405011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874497" y="4792762"/>
            <a:ext cx="4597186" cy="281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Docker Desktop</a:t>
            </a:r>
            <a:endParaRPr lang="en-US" sz="1750" dirty="0"/>
          </a:p>
        </p:txBody>
      </p:sp>
      <p:sp>
        <p:nvSpPr>
          <p:cNvPr id="20" name="Text 12"/>
          <p:cNvSpPr/>
          <p:nvPr/>
        </p:nvSpPr>
        <p:spPr>
          <a:xfrm>
            <a:off x="6874497" y="5193605"/>
            <a:ext cx="4597186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GUI-оболочка для Mac и Windows, упрощает работу с Docker для новичков.</a:t>
            </a:r>
            <a:endParaRPr lang="en-US" sz="15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96007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Основные понятия: Словарь Docker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12" y="2150467"/>
            <a:ext cx="3436852" cy="343693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665050" y="1707455"/>
            <a:ext cx="2133844" cy="2859980"/>
          </a:xfrm>
          <a:prstGeom prst="roundRect">
            <a:avLst>
              <a:gd name="adj" fmla="val 4049"/>
            </a:avLst>
          </a:prstGeom>
          <a:solidFill>
            <a:srgbClr val="542C49"/>
          </a:solidFill>
          <a:ln w="12700">
            <a:solidFill>
              <a:srgbClr val="6D45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883425" y="1925836"/>
            <a:ext cx="169709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Dockerfile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883425" y="2417266"/>
            <a:ext cx="1697094" cy="1316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Текстовый файл с инструкциями — рецепт сборки образа.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004569" y="1707455"/>
            <a:ext cx="2133844" cy="2859980"/>
          </a:xfrm>
          <a:prstGeom prst="roundRect">
            <a:avLst>
              <a:gd name="adj" fmla="val 4049"/>
            </a:avLst>
          </a:prstGeom>
          <a:solidFill>
            <a:srgbClr val="542C49"/>
          </a:solidFill>
          <a:ln w="12700">
            <a:solidFill>
              <a:srgbClr val="6D456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222944" y="1925836"/>
            <a:ext cx="169709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Image (Образ)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222944" y="2417266"/>
            <a:ext cx="1697094" cy="1316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Готовый неизменяемый шаблон — как </a:t>
            </a:r>
            <a:r>
              <a:rPr lang="en-US" sz="16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класс</a:t>
            </a: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в ООП.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344089" y="1707455"/>
            <a:ext cx="2133844" cy="2859980"/>
          </a:xfrm>
          <a:prstGeom prst="roundRect">
            <a:avLst>
              <a:gd name="adj" fmla="val 4049"/>
            </a:avLst>
          </a:prstGeom>
          <a:solidFill>
            <a:srgbClr val="542C49"/>
          </a:solidFill>
          <a:ln w="12700">
            <a:solidFill>
              <a:srgbClr val="6D456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562464" y="1925836"/>
            <a:ext cx="169709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Container (Контейнер)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9562464" y="2703016"/>
            <a:ext cx="1697094" cy="1646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Запущенный экземпляр образа — как </a:t>
            </a:r>
            <a:r>
              <a:rPr lang="en-US" sz="1600" b="1" dirty="0">
                <a:solidFill>
                  <a:srgbClr val="DAD8E9"/>
                </a:solidFill>
                <a:latin typeface="Mukta Bold" pitchFamily="34" charset="0"/>
                <a:ea typeface="Mukta Bold" pitchFamily="34" charset="-122"/>
                <a:cs typeface="Mukta Bold" pitchFamily="34" charset="-120"/>
              </a:rPr>
              <a:t>объект</a:t>
            </a: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из класса.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665050" y="4773116"/>
            <a:ext cx="6812883" cy="1257399"/>
          </a:xfrm>
          <a:prstGeom prst="roundRect">
            <a:avLst>
              <a:gd name="adj" fmla="val 6872"/>
            </a:avLst>
          </a:prstGeom>
          <a:solidFill>
            <a:srgbClr val="542C49"/>
          </a:solidFill>
          <a:ln w="12700">
            <a:solidFill>
              <a:srgbClr val="6D456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83425" y="4991497"/>
            <a:ext cx="637613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Layer (Слой)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4883425" y="5482927"/>
            <a:ext cx="6376133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Каждая инструкция Dockerfile создаёт слой; слои кешируются.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611386"/>
            <a:ext cx="10751670" cy="419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Образы и реестры: Как хранятся и передаются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153" y="1252934"/>
            <a:ext cx="10407290" cy="39053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01110" y="4227023"/>
            <a:ext cx="1569714" cy="268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docker pull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7322841" y="4227023"/>
            <a:ext cx="1569714" cy="268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docker push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5355323" y="4092627"/>
            <a:ext cx="1569713" cy="537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Образ (слои в кеше)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3387805" y="4227023"/>
            <a:ext cx="1569714" cy="268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docker build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377282" y="4227023"/>
            <a:ext cx="1569714" cy="268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Dockerfile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20012" y="5394027"/>
            <a:ext cx="5191590" cy="209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Кеширование слоёв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20012" y="5714802"/>
            <a:ext cx="5191590" cy="419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Если слой не изменился, Docker переиспользует его из кеша — сборка ускоряется в разы. Меняйте часто изменяемые слои в конце Dockerfile.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286442" y="5394027"/>
            <a:ext cx="5191590" cy="209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Docker Hub и реестры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286442" y="5714802"/>
            <a:ext cx="5191590" cy="431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Публичный реестр с миллионами образов: </a:t>
            </a:r>
            <a:r>
              <a:rPr lang="en-US" sz="115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python:3.11</a:t>
            </a: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, </a:t>
            </a:r>
            <a:r>
              <a:rPr lang="en-US" sz="115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nginx</a:t>
            </a: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, </a:t>
            </a:r>
            <a:r>
              <a:rPr lang="en-US" sz="115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</a:t>
            </a: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и многие другие — готовы к использованию прямо сейчас.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542C4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1" y="483791"/>
            <a:ext cx="4417704" cy="58904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91898" y="589955"/>
            <a:ext cx="617978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Инфраструктура: Сеть, Данные, Логи, Безопасность</a:t>
            </a:r>
            <a:endParaRPr lang="en-US" sz="26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291898" y="1620738"/>
            <a:ext cx="6179784" cy="107503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5500649" y="2042517"/>
            <a:ext cx="231372" cy="23137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043759" y="1794073"/>
            <a:ext cx="525459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Сеть (bridge)</a:t>
            </a:r>
            <a:endParaRPr lang="en-US" sz="1300" dirty="0"/>
          </a:p>
        </p:txBody>
      </p:sp>
      <p:sp>
        <p:nvSpPr>
          <p:cNvPr id="8" name="Text 3"/>
          <p:cNvSpPr/>
          <p:nvPr/>
        </p:nvSpPr>
        <p:spPr>
          <a:xfrm>
            <a:off x="6043759" y="2077740"/>
            <a:ext cx="5254593" cy="444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Контейнеры общаются через виртуальную сеть. Порты маппируются: </a:t>
            </a:r>
            <a:r>
              <a:rPr lang="en-US" sz="120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8080:80</a:t>
            </a: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= внешний:внутренний.</a:t>
            </a:r>
            <a:endParaRPr lang="en-US" sz="12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5291898" y="2811463"/>
            <a:ext cx="6179784" cy="1062335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5500649" y="3226891"/>
            <a:ext cx="231372" cy="231378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6043759" y="2984798"/>
            <a:ext cx="525459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Volumes (Тома)</a:t>
            </a:r>
            <a:endParaRPr lang="en-US" sz="1300" dirty="0"/>
          </a:p>
        </p:txBody>
      </p:sp>
      <p:sp>
        <p:nvSpPr>
          <p:cNvPr id="12" name="Text 5"/>
          <p:cNvSpPr/>
          <p:nvPr/>
        </p:nvSpPr>
        <p:spPr>
          <a:xfrm>
            <a:off x="6043759" y="3268464"/>
            <a:ext cx="5254593" cy="431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Папки на хосте, монтируемые в контейнер. Данные сохраняются даже после удаления контейнера.</a:t>
            </a:r>
            <a:endParaRPr lang="en-US" sz="12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5291898" y="3989487"/>
            <a:ext cx="6179784" cy="1075035"/>
          </a:xfrm>
          <a:prstGeom prst="rect">
            <a:avLst/>
          </a:prstGeom>
        </p:spPr>
      </p:pic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5500649" y="4411266"/>
            <a:ext cx="231372" cy="231378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6043759" y="4162822"/>
            <a:ext cx="525459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Логи</a:t>
            </a:r>
            <a:endParaRPr lang="en-US" sz="1300" dirty="0"/>
          </a:p>
        </p:txBody>
      </p:sp>
      <p:sp>
        <p:nvSpPr>
          <p:cNvPr id="16" name="Text 7"/>
          <p:cNvSpPr/>
          <p:nvPr/>
        </p:nvSpPr>
        <p:spPr>
          <a:xfrm>
            <a:off x="6043759" y="4446488"/>
            <a:ext cx="5254593" cy="444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</a:t>
            </a: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показывает вывод приложения в реальном времени. Логи хранятся на хосте.</a:t>
            </a:r>
            <a:endParaRPr lang="en-US" sz="120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xmlns="" r:embed="rId16"/>
              </a:ext>
            </a:extLst>
          </a:blip>
          <a:stretch>
            <a:fillRect/>
          </a:stretch>
        </p:blipFill>
        <p:spPr>
          <a:xfrm>
            <a:off x="5291898" y="5180211"/>
            <a:ext cx="6179784" cy="1087735"/>
          </a:xfrm>
          <a:prstGeom prst="rect">
            <a:avLst/>
          </a:prstGeom>
        </p:spPr>
      </p:pic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xmlns="" r:embed="rId18"/>
              </a:ext>
            </a:extLst>
          </a:blip>
          <a:stretch>
            <a:fillRect/>
          </a:stretch>
        </p:blipFill>
        <p:spPr>
          <a:xfrm>
            <a:off x="5500649" y="5608340"/>
            <a:ext cx="231372" cy="231378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6043759" y="5353546"/>
            <a:ext cx="525459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Безопасность</a:t>
            </a:r>
            <a:endParaRPr lang="en-US" sz="1300" dirty="0"/>
          </a:p>
        </p:txBody>
      </p:sp>
      <p:sp>
        <p:nvSpPr>
          <p:cNvPr id="20" name="Text 9"/>
          <p:cNvSpPr/>
          <p:nvPr/>
        </p:nvSpPr>
        <p:spPr>
          <a:xfrm>
            <a:off x="6043759" y="5637213"/>
            <a:ext cx="5254593" cy="457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Контейнеры изолированы друг от друга. </a:t>
            </a:r>
            <a:r>
              <a:rPr lang="en-US" sz="120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root</a:t>
            </a: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внутри контейнера ≠ </a:t>
            </a:r>
            <a:r>
              <a:rPr lang="en-US" sz="120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root</a:t>
            </a: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на хосте.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65745"/>
            <a:ext cx="10751670" cy="508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Жизненный цикл контейнера: Основные команды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0012" y="1401068"/>
          <a:ext cx="10751670" cy="4879059"/>
        </p:xfrm>
        <a:graphic>
          <a:graphicData uri="http://schemas.openxmlformats.org/drawingml/2006/table">
            <a:tbl>
              <a:tblPr/>
              <a:tblGrid>
                <a:gridCol w="3583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3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38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DAD8E9"/>
                          </a:solidFill>
                          <a:latin typeface="Mukta" pitchFamily="34" charset="0"/>
                          <a:ea typeface="Mukta" pitchFamily="34" charset="-122"/>
                          <a:cs typeface="Mukta" pitchFamily="34" charset="-120"/>
                        </a:rPr>
                        <a:t>Команда</a:t>
                      </a:r>
                      <a:endParaRPr lang="en-US" sz="1400" dirty="0">
                        <a:latin typeface="Mukta" charset="0"/>
                        <a:ea typeface="Mukta" charset="0"/>
                        <a:cs typeface="Mukta" charset="0"/>
                      </a:endParaRPr>
                    </a:p>
                  </a:txBody>
                  <a:tcPr marL="183233" marR="18323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DAD8E9"/>
                          </a:solidFill>
                          <a:latin typeface="Mukta" pitchFamily="34" charset="0"/>
                          <a:ea typeface="Mukta" pitchFamily="34" charset="-122"/>
                          <a:cs typeface="Mukta" pitchFamily="34" charset="-120"/>
                        </a:rPr>
                        <a:t>Действие</a:t>
                      </a:r>
                      <a:endParaRPr lang="en-US" sz="1400" dirty="0">
                        <a:latin typeface="Mukta" charset="0"/>
                        <a:ea typeface="Mukta" charset="0"/>
                        <a:cs typeface="Mukta" charset="0"/>
                      </a:endParaRPr>
                    </a:p>
                  </a:txBody>
                  <a:tcPr marL="183233" marR="18323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DAD8E9"/>
                          </a:solidFill>
                          <a:latin typeface="Mukta" pitchFamily="34" charset="0"/>
                          <a:ea typeface="Mukta" pitchFamily="34" charset="-122"/>
                          <a:cs typeface="Mukta" pitchFamily="34" charset="-120"/>
                        </a:rPr>
                        <a:t>Пример</a:t>
                      </a:r>
                      <a:endParaRPr lang="en-US" sz="1400" dirty="0">
                        <a:latin typeface="Mukta" charset="0"/>
                        <a:ea typeface="Mukta" charset="0"/>
                        <a:cs typeface="Mukta" charset="0"/>
                      </a:endParaRPr>
                    </a:p>
                  </a:txBody>
                  <a:tcPr marL="183233" marR="18323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89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AD8E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docker run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3233" marR="18323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AD8E9"/>
                          </a:solidFill>
                          <a:latin typeface="Mukta" pitchFamily="34" charset="0"/>
                          <a:ea typeface="Mukta" pitchFamily="34" charset="-122"/>
                          <a:cs typeface="Mukta" pitchFamily="34" charset="-120"/>
                        </a:rPr>
                        <a:t>Создаёт и запускает контейнер из образа</a:t>
                      </a:r>
                      <a:endParaRPr lang="en-US" sz="1400" dirty="0">
                        <a:latin typeface="Mukta" charset="0"/>
                        <a:ea typeface="Mukta" charset="0"/>
                        <a:cs typeface="Mukta" charset="0"/>
                      </a:endParaRPr>
                    </a:p>
                  </a:txBody>
                  <a:tcPr marL="183233" marR="18323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AD8E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docker run -d -p 8080:80 nginx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3233" marR="18323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70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AD8E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docker ps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3233" marR="18323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AD8E9"/>
                          </a:solidFill>
                          <a:latin typeface="Mukta" pitchFamily="34" charset="0"/>
                          <a:ea typeface="Mukta" pitchFamily="34" charset="-122"/>
                          <a:cs typeface="Mukta" pitchFamily="34" charset="-120"/>
                        </a:rPr>
                        <a:t>Список запущенных контейнеров (</a:t>
                      </a:r>
                      <a:r>
                        <a:rPr lang="en-US" sz="1400" dirty="0">
                          <a:solidFill>
                            <a:srgbClr val="DAD8E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-a</a:t>
                      </a:r>
                      <a:r>
                        <a:rPr lang="en-US" sz="1400" dirty="0">
                          <a:solidFill>
                            <a:srgbClr val="DAD8E9"/>
                          </a:solidFill>
                          <a:latin typeface="Mukta" pitchFamily="34" charset="0"/>
                          <a:ea typeface="Mukta" pitchFamily="34" charset="-122"/>
                          <a:cs typeface="Mukta" pitchFamily="34" charset="-120"/>
                        </a:rPr>
                        <a:t> — все)</a:t>
                      </a:r>
                      <a:endParaRPr lang="en-US" sz="1400" dirty="0">
                        <a:latin typeface="Mukta" charset="0"/>
                        <a:ea typeface="Mukta" charset="0"/>
                        <a:cs typeface="Mukta" charset="0"/>
                      </a:endParaRPr>
                    </a:p>
                  </a:txBody>
                  <a:tcPr marL="183233" marR="18323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AD8E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docker ps -a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3233" marR="18323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89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AD8E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docker stop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3233" marR="18323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AD8E9"/>
                          </a:solidFill>
                          <a:latin typeface="Mukta" pitchFamily="34" charset="0"/>
                          <a:ea typeface="Mukta" pitchFamily="34" charset="-122"/>
                          <a:cs typeface="Mukta" pitchFamily="34" charset="-120"/>
                        </a:rPr>
                        <a:t>Останавливает контейнер (graceful shutdown)</a:t>
                      </a:r>
                      <a:endParaRPr lang="en-US" sz="1400" dirty="0">
                        <a:latin typeface="Mukta" charset="0"/>
                        <a:ea typeface="Mukta" charset="0"/>
                        <a:cs typeface="Mukta" charset="0"/>
                      </a:endParaRPr>
                    </a:p>
                  </a:txBody>
                  <a:tcPr marL="183233" marR="18323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AD8E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docker stop container_id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3233" marR="18323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8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AD8E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docker rm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3233" marR="18323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AD8E9"/>
                          </a:solidFill>
                          <a:latin typeface="Mukta" pitchFamily="34" charset="0"/>
                          <a:ea typeface="Mukta" pitchFamily="34" charset="-122"/>
                          <a:cs typeface="Mukta" pitchFamily="34" charset="-120"/>
                        </a:rPr>
                        <a:t>Удаляет контейнер</a:t>
                      </a:r>
                      <a:endParaRPr lang="en-US" sz="1400" dirty="0">
                        <a:latin typeface="Mukta" charset="0"/>
                        <a:ea typeface="Mukta" charset="0"/>
                        <a:cs typeface="Mukta" charset="0"/>
                      </a:endParaRPr>
                    </a:p>
                  </a:txBody>
                  <a:tcPr marL="183233" marR="18323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AD8E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docker rm container_id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3233" marR="18323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89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AD8E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docker logs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3233" marR="18323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AD8E9"/>
                          </a:solidFill>
                          <a:latin typeface="Mukta" pitchFamily="34" charset="0"/>
                          <a:ea typeface="Mukta" pitchFamily="34" charset="-122"/>
                          <a:cs typeface="Mukta" pitchFamily="34" charset="-120"/>
                        </a:rPr>
                        <a:t>Просмотр логов в реальном времени</a:t>
                      </a:r>
                      <a:endParaRPr lang="en-US" sz="1400" dirty="0">
                        <a:latin typeface="Mukta" charset="0"/>
                        <a:ea typeface="Mukta" charset="0"/>
                        <a:cs typeface="Mukta" charset="0"/>
                      </a:endParaRPr>
                    </a:p>
                  </a:txBody>
                  <a:tcPr marL="183233" marR="18323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AD8E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docker logs -f container_id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3233" marR="18323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57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AD8E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docker exec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3233" marR="18323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AD8E9"/>
                          </a:solidFill>
                          <a:latin typeface="Mukta" pitchFamily="34" charset="0"/>
                          <a:ea typeface="Mukta" pitchFamily="34" charset="-122"/>
                          <a:cs typeface="Mukta" pitchFamily="34" charset="-120"/>
                        </a:rPr>
                        <a:t>Выполнить команду внутри контейнера</a:t>
                      </a:r>
                      <a:endParaRPr lang="en-US" sz="1400" dirty="0">
                        <a:latin typeface="Mukta" charset="0"/>
                        <a:ea typeface="Mukta" charset="0"/>
                        <a:cs typeface="Mukta" charset="0"/>
                      </a:endParaRPr>
                    </a:p>
                  </a:txBody>
                  <a:tcPr marL="183233" marR="18323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AD8E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docker exec -it container_id bash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83233" marR="18323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20012" y="1878256"/>
            <a:ext cx="10751670" cy="1145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720012" y="2647182"/>
            <a:ext cx="10751670" cy="1145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720012" y="3454207"/>
            <a:ext cx="10751670" cy="1145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720012" y="4223133"/>
            <a:ext cx="10751670" cy="1145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720012" y="4733998"/>
            <a:ext cx="10751670" cy="1145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3" name="Shape 6"/>
          <p:cNvSpPr/>
          <p:nvPr/>
        </p:nvSpPr>
        <p:spPr>
          <a:xfrm>
            <a:off x="720012" y="5502924"/>
            <a:ext cx="10751670" cy="1145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69416"/>
            <a:ext cx="10751670" cy="482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Создание своего образа: Dockerfile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20012" y="1435993"/>
            <a:ext cx="5164108" cy="2847380"/>
          </a:xfrm>
          <a:prstGeom prst="roundRect">
            <a:avLst>
              <a:gd name="adj" fmla="val 2561"/>
            </a:avLst>
          </a:prstGeom>
          <a:solidFill>
            <a:srgbClr val="181930"/>
          </a:solidFill>
          <a:ln/>
        </p:spPr>
      </p:sp>
      <p:sp>
        <p:nvSpPr>
          <p:cNvPr id="4" name="Text 2"/>
          <p:cNvSpPr/>
          <p:nvPr/>
        </p:nvSpPr>
        <p:spPr>
          <a:xfrm>
            <a:off x="928267" y="1609527"/>
            <a:ext cx="4747598" cy="2500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python:3.11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-r requirements.txt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["python", "app.py"]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20012" y="4448076"/>
            <a:ext cx="5773692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Сборка образа: </a:t>
            </a:r>
            <a:r>
              <a:rPr lang="en-US" sz="135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my-app:1.0 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13925" y="1435993"/>
            <a:ext cx="390515" cy="390525"/>
          </a:xfrm>
          <a:prstGeom prst="roundRect">
            <a:avLst>
              <a:gd name="adj" fmla="val 18670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93496" y="1486595"/>
            <a:ext cx="231372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0883" y="1495623"/>
            <a:ext cx="4627149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FROM python:3.11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0883" y="1883172"/>
            <a:ext cx="4627149" cy="256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Базовый образ — наследуем готовую ОС с Python.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13925" y="2432149"/>
            <a:ext cx="390515" cy="390525"/>
          </a:xfrm>
          <a:prstGeom prst="roundRect">
            <a:avLst>
              <a:gd name="adj" fmla="val 18670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93496" y="2482751"/>
            <a:ext cx="231372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0883" y="2491780"/>
            <a:ext cx="4627149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WORKDIR /app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0883" y="2879328"/>
            <a:ext cx="4627149" cy="256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Рабочая директория внутри контейнера.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313925" y="3428305"/>
            <a:ext cx="390515" cy="390525"/>
          </a:xfrm>
          <a:prstGeom prst="roundRect">
            <a:avLst>
              <a:gd name="adj" fmla="val 18670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93496" y="3478907"/>
            <a:ext cx="231372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50883" y="3487936"/>
            <a:ext cx="4627149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COPY . 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50883" y="3875484"/>
            <a:ext cx="4627149" cy="256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Копируем код с хоста в контейнер.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313925" y="4424462"/>
            <a:ext cx="390515" cy="390525"/>
          </a:xfrm>
          <a:prstGeom prst="roundRect">
            <a:avLst>
              <a:gd name="adj" fmla="val 18670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93496" y="4475063"/>
            <a:ext cx="231372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50883" y="4484092"/>
            <a:ext cx="4627149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RUN pip install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50883" y="4871641"/>
            <a:ext cx="4627149" cy="256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Устанавливаем зависимости при сборке образа.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313925" y="5420618"/>
            <a:ext cx="390515" cy="390525"/>
          </a:xfrm>
          <a:prstGeom prst="roundRect">
            <a:avLst>
              <a:gd name="adj" fmla="val 18670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93496" y="5471220"/>
            <a:ext cx="231372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850883" y="5480248"/>
            <a:ext cx="4627149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CMD ["python", "app.py"]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50883" y="5867797"/>
            <a:ext cx="4627149" cy="256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Команда по умолчанию при запуске контейнера.</a:t>
            </a:r>
            <a:endParaRPr lang="en-US" sz="13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DFE0"/>
          </a:solidFill>
          <a:ln/>
        </p:spPr>
      </p:sp>
      <p:sp>
        <p:nvSpPr>
          <p:cNvPr id="5" name="Text 1"/>
          <p:cNvSpPr/>
          <p:nvPr/>
        </p:nvSpPr>
        <p:spPr>
          <a:xfrm>
            <a:off x="720012" y="615553"/>
            <a:ext cx="6179784" cy="419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Оркестрация: Docker Compose</a:t>
            </a:r>
            <a:endParaRPr lang="en-US" sz="2600" dirty="0"/>
          </a:p>
        </p:txBody>
      </p:sp>
      <p:sp>
        <p:nvSpPr>
          <p:cNvPr id="6" name="Text 2"/>
          <p:cNvSpPr/>
          <p:nvPr/>
        </p:nvSpPr>
        <p:spPr>
          <a:xfrm>
            <a:off x="720012" y="1201638"/>
            <a:ext cx="6179784" cy="419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Реальные приложения требуют нескольких контейнеров одновременно. Docker Compose описывает и запускает их все в одном YAML-файле.</a:t>
            </a:r>
            <a:endParaRPr lang="en-US" sz="1150" dirty="0"/>
          </a:p>
        </p:txBody>
      </p:sp>
      <p:sp>
        <p:nvSpPr>
          <p:cNvPr id="7" name="Shape 3"/>
          <p:cNvSpPr/>
          <p:nvPr/>
        </p:nvSpPr>
        <p:spPr>
          <a:xfrm>
            <a:off x="720012" y="1745754"/>
            <a:ext cx="6179784" cy="4496693"/>
          </a:xfrm>
          <a:prstGeom prst="roundRect">
            <a:avLst>
              <a:gd name="adj" fmla="val 1411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26362" y="1752104"/>
            <a:ext cx="6167085" cy="1083866"/>
          </a:xfrm>
          <a:custGeom>
            <a:avLst/>
            <a:gdLst/>
            <a:ahLst/>
            <a:cxnLst/>
            <a:rect l="l" t="t" r="r" b="b"/>
            <a:pathLst>
              <a:path w="6167085" h="1083866">
                <a:moveTo>
                  <a:pt x="52880" y="0"/>
                </a:moveTo>
                <a:lnTo>
                  <a:pt x="6114205" y="0"/>
                </a:lnTo>
                <a:arcTo wR="52880" hR="52882" stAng="16200000" swAng="5400000"/>
                <a:lnTo>
                  <a:pt x="6167085" y="1083866"/>
                </a:lnTo>
                <a:lnTo>
                  <a:pt x="0" y="1083866"/>
                </a:lnTo>
                <a:lnTo>
                  <a:pt x="0" y="52882"/>
                </a:lnTo>
                <a:arcTo wR="52880" hR="52882" stAng="10800000" swAng="5400000"/>
                <a:close/>
              </a:path>
            </a:pathLst>
          </a:custGeom>
          <a:solidFill>
            <a:srgbClr val="542C49"/>
          </a:solidFill>
          <a:ln/>
        </p:spPr>
      </p:sp>
      <p:sp>
        <p:nvSpPr>
          <p:cNvPr id="9" name="Text 5"/>
          <p:cNvSpPr/>
          <p:nvPr/>
        </p:nvSpPr>
        <p:spPr>
          <a:xfrm>
            <a:off x="837286" y="1863030"/>
            <a:ext cx="5945237" cy="209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Проблема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37286" y="2139355"/>
            <a:ext cx="5945237" cy="419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Приложение требует app + PostgreSQL + Redis — запускать вручную неудобно и ненадёжно.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726362" y="2835970"/>
            <a:ext cx="6167085" cy="1250255"/>
          </a:xfrm>
          <a:prstGeom prst="rect">
            <a:avLst/>
          </a:prstGeom>
          <a:solidFill>
            <a:srgbClr val="542C49"/>
          </a:solidFill>
          <a:ln/>
        </p:spPr>
      </p:sp>
      <p:sp>
        <p:nvSpPr>
          <p:cNvPr id="12" name="Shape 8"/>
          <p:cNvSpPr/>
          <p:nvPr/>
        </p:nvSpPr>
        <p:spPr>
          <a:xfrm>
            <a:off x="726362" y="2835970"/>
            <a:ext cx="6167085" cy="19050"/>
          </a:xfrm>
          <a:prstGeom prst="roundRect">
            <a:avLst>
              <a:gd name="adj" fmla="val 49999"/>
            </a:avLst>
          </a:prstGeom>
          <a:solidFill>
            <a:srgbClr val="6D4562"/>
          </a:solidFill>
          <a:ln/>
        </p:spPr>
      </p:sp>
      <p:sp>
        <p:nvSpPr>
          <p:cNvPr id="13" name="Shape 9"/>
          <p:cNvSpPr/>
          <p:nvPr/>
        </p:nvSpPr>
        <p:spPr>
          <a:xfrm>
            <a:off x="3620997" y="2656632"/>
            <a:ext cx="377716" cy="377726"/>
          </a:xfrm>
          <a:prstGeom prst="roundRect">
            <a:avLst>
              <a:gd name="adj" fmla="val 16800"/>
            </a:avLst>
          </a:prstGeom>
          <a:solidFill>
            <a:srgbClr val="0B0C23">
              <a:alpha val="95000"/>
            </a:srgbClr>
          </a:solidFill>
          <a:ln w="19050">
            <a:solidFill>
              <a:srgbClr val="6D456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37286" y="3113286"/>
            <a:ext cx="5945237" cy="209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docker-compose.yml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837286" y="3389610"/>
            <a:ext cx="5945237" cy="419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YAML-файл с описанием сервисов, портов, томов и переменных окружения для всего стека.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26362" y="4086225"/>
            <a:ext cx="6167085" cy="1262955"/>
          </a:xfrm>
          <a:prstGeom prst="rect">
            <a:avLst/>
          </a:prstGeom>
          <a:solidFill>
            <a:srgbClr val="542C49"/>
          </a:solidFill>
          <a:ln/>
        </p:spPr>
      </p:sp>
      <p:sp>
        <p:nvSpPr>
          <p:cNvPr id="17" name="Shape 13"/>
          <p:cNvSpPr/>
          <p:nvPr/>
        </p:nvSpPr>
        <p:spPr>
          <a:xfrm>
            <a:off x="726362" y="4086225"/>
            <a:ext cx="6167085" cy="19050"/>
          </a:xfrm>
          <a:prstGeom prst="roundRect">
            <a:avLst>
              <a:gd name="adj" fmla="val 49999"/>
            </a:avLst>
          </a:prstGeom>
          <a:solidFill>
            <a:srgbClr val="6D4562"/>
          </a:solidFill>
          <a:ln/>
        </p:spPr>
      </p:sp>
      <p:sp>
        <p:nvSpPr>
          <p:cNvPr id="18" name="Shape 14"/>
          <p:cNvSpPr/>
          <p:nvPr/>
        </p:nvSpPr>
        <p:spPr>
          <a:xfrm>
            <a:off x="3620997" y="3906887"/>
            <a:ext cx="377716" cy="377726"/>
          </a:xfrm>
          <a:prstGeom prst="roundRect">
            <a:avLst>
              <a:gd name="adj" fmla="val 16800"/>
            </a:avLst>
          </a:prstGeom>
          <a:solidFill>
            <a:srgbClr val="0B0C23">
              <a:alpha val="95000"/>
            </a:srgbClr>
          </a:solidFill>
          <a:ln w="19050">
            <a:solidFill>
              <a:srgbClr val="6D456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37286" y="4363541"/>
            <a:ext cx="5945237" cy="209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Одна команда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837286" y="4639866"/>
            <a:ext cx="5945237" cy="431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up</a:t>
            </a: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запускает Flask, PostgreSQL и Nginx с правильной сетевой конфигурацией.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726362" y="5349180"/>
            <a:ext cx="6167085" cy="886916"/>
          </a:xfrm>
          <a:custGeom>
            <a:avLst/>
            <a:gdLst/>
            <a:ahLst/>
            <a:cxnLst/>
            <a:rect l="l" t="t" r="r" b="b"/>
            <a:pathLst>
              <a:path w="6167085" h="886916">
                <a:moveTo>
                  <a:pt x="0" y="0"/>
                </a:moveTo>
                <a:lnTo>
                  <a:pt x="6167085" y="0"/>
                </a:lnTo>
                <a:lnTo>
                  <a:pt x="6167085" y="834035"/>
                </a:lnTo>
                <a:arcTo wR="52880" hR="52882" stAng="0" swAng="5400000"/>
                <a:lnTo>
                  <a:pt x="52880" y="886916"/>
                </a:lnTo>
                <a:arcTo wR="52880" hR="52882" stAng="5400000" swAng="5400000"/>
                <a:lnTo>
                  <a:pt x="0" y="0"/>
                </a:lnTo>
                <a:close/>
              </a:path>
            </a:pathLst>
          </a:custGeom>
          <a:solidFill>
            <a:srgbClr val="542C49"/>
          </a:solidFill>
          <a:ln/>
        </p:spPr>
      </p:sp>
      <p:sp>
        <p:nvSpPr>
          <p:cNvPr id="22" name="Shape 18"/>
          <p:cNvSpPr/>
          <p:nvPr/>
        </p:nvSpPr>
        <p:spPr>
          <a:xfrm>
            <a:off x="726362" y="5349180"/>
            <a:ext cx="6167085" cy="19050"/>
          </a:xfrm>
          <a:prstGeom prst="roundRect">
            <a:avLst>
              <a:gd name="adj" fmla="val 49999"/>
            </a:avLst>
          </a:prstGeom>
          <a:solidFill>
            <a:srgbClr val="6D4562"/>
          </a:solidFill>
          <a:ln/>
        </p:spPr>
      </p:sp>
      <p:sp>
        <p:nvSpPr>
          <p:cNvPr id="23" name="Shape 19"/>
          <p:cNvSpPr/>
          <p:nvPr/>
        </p:nvSpPr>
        <p:spPr>
          <a:xfrm>
            <a:off x="3620997" y="5169843"/>
            <a:ext cx="377716" cy="377726"/>
          </a:xfrm>
          <a:prstGeom prst="roundRect">
            <a:avLst>
              <a:gd name="adj" fmla="val 16800"/>
            </a:avLst>
          </a:prstGeom>
          <a:solidFill>
            <a:srgbClr val="0B0C23">
              <a:alpha val="95000"/>
            </a:srgbClr>
          </a:solidFill>
          <a:ln w="19050">
            <a:solidFill>
              <a:srgbClr val="6D4562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37286" y="5626497"/>
            <a:ext cx="5945237" cy="209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Управление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837286" y="5902821"/>
            <a:ext cx="5945237" cy="222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down</a:t>
            </a: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останавливает и удаляет все сервисы одной командой.</a:t>
            </a:r>
            <a:endParaRPr lang="en-US" sz="1150" dirty="0"/>
          </a:p>
        </p:txBody>
      </p:sp>
      <p:pic>
        <p:nvPicPr>
          <p:cNvPr id="26" name="Рисунок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09" y="-1025"/>
            <a:ext cx="9279857" cy="6859025"/>
          </a:xfrm>
          <a:prstGeom prst="rect">
            <a:avLst/>
          </a:prstGeom>
        </p:spPr>
      </p:pic>
      <p:pic>
        <p:nvPicPr>
          <p:cNvPr id="1028" name="Picture 4" descr="Picture background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809" y="1546572"/>
            <a:ext cx="4248150" cy="3343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701</Words>
  <Application>Microsoft Office PowerPoint</Application>
  <PresentationFormat>Широкоэкранный</PresentationFormat>
  <Paragraphs>124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8" baseType="lpstr">
      <vt:lpstr>Mukta</vt:lpstr>
      <vt:lpstr>Consolas</vt:lpstr>
      <vt:lpstr>Calibri</vt:lpstr>
      <vt:lpstr>Arial</vt:lpstr>
      <vt:lpstr>Mukta Bold</vt:lpstr>
      <vt:lpstr>Prompt Medium</vt:lpstr>
      <vt:lpstr>Mukta Light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Шевцова Варвара Валентиновна</dc:creator>
  <cp:lastModifiedBy>Шевцова Варвара Валентиновна</cp:lastModifiedBy>
  <cp:revision>2</cp:revision>
  <dcterms:created xsi:type="dcterms:W3CDTF">2026-09-12T07:38:53Z</dcterms:created>
  <dcterms:modified xsi:type="dcterms:W3CDTF">2026-09-12T07:49:29Z</dcterms:modified>
</cp:coreProperties>
</file>